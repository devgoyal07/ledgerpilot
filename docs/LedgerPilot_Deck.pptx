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A4E"/>
              </a:solidFill>
              <a:effectLst/>
            </c:spPr>
          </c:dPt>
          <c:dPt>
            <c:idx val="1"/>
            <c:bubble3D val="0"/>
            <c:spPr>
              <a:solidFill>
                <a:srgbClr val="EDE7D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89.5</c:v>
                </c:pt>
                <c:pt idx="1">
                  <c:v>10.5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Meet LedgerPilot — an AI finance copilot for small-business owners, our entry for Topic E. One line to remember: it watches the cash, flags trouble early, finds the right financing — and never acts without your yes. ~30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problem. An SME owner wears every hat, so finance comes last. Three consequences: cash crunches that arrive with no warning; financing chosen by guesswork and overpaid for; and nobody actually reading the numbers until a trend has already hurt. This is a huge market — 63M+ MSMEs in India alone, almost none with a finance hire.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solution: one copilot, three jobs — cash-flow alerts, financing matching, financial analysis. The key framing for the judges: this is an AGENT, not a chatbot. It decides which tools to run, runs them, and can take action — always with a human in the loop. ~45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working product. Left: a live snapshot of the business — health score, cash, proactive alerts. Right: you just talk to it. Note the header — guarded autonomy, actions need your OK, and the engine indicator. Everything shown here runs today. If doing a live demo, switch to the app now.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Capability 1 — cash flow. Left: the mechanics (monthly buckets, runway, 2-sigma spike detection, a conservative 30-day projection). Right: real output for ThreadCraft — profitable on paper but cash-starved by long client terms. The agent speaks up unprompted: thin buffer, overdue invoices, expense spike. ~1 min 15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Capability 2 — financing. Ask in plain language; it ranks what actually fits with an explainable score and shows the reasons. Invoice financing tops the list for a receivables-driven cash gap. Crucially, every reply says explainable suggestions, not a credit offer — transparency is the compliance feature, not a disclaimer bolted on.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Capability 3 — the health score. One number, but it shows its math: four weighted components — margin, liquidity, leverage, growth — each independently defensible. The tool returns the components and weights, so an owner or an auditor can see exactly why the score is what it is. ~45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Architecture. A four-stage loop — plan, permission gate, execute, narrate — over four typed tools, each tagged with its permission tier. A read-only datastore (the one seam to swap in live bank/accounting data) and a dual LLM backend: live API for the demo, deterministic offline engine for reproducible evidence.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— 30% of the score and the part you cannot retrofit. Three permission tiers; T2 actions ALWAYS need explicit confirmation and the agent never self-approves. Plus a full audit trail, explainable non-advice, and no hallucinated numbers — all figures come from deterministic tools, never the model. ~1 min 15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straight to the rubric: task completion (all three capabilities, verified end-to-end), security and compliance (tiers, confirmation, audit, non-advice), innovation and interaction (live snapshot, proactive alerts, purpose-aware matching, offline/live engine). Plus it runs today with no setup, 12 passing tests, and reproducible evidence. ~45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Integrity slide — judges value honesty about the line. What is real: the whole agent loop, all three capabilities, the permission system proven live, the audit log, 12 tests, the runnable app. What is simulated: the data sources and the financing catalog; actions write to a ledger rather than firing. No real money is ever touched. ~45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and close. Next: live connectors, real lender quotes, a stronger input-policy guard, and multi-currency for cross-border SMEs. Close on the line: the finance teammate every small business deserves. Invite questions. ~45 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24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100" kern="0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LedgerPilot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100" kern="0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</a:t>
            </a:r>
            <a:pPr indent="0" marL="0">
              <a:buNone/>
            </a:pPr>
            <a:r>
              <a:rPr lang="en-US" sz="6600" b="1" spc="100" kern="0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C9D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finance copilot for small-business owners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840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the cash, flags trouble early, and finds the right financing — and it never acts without your yes.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4846320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B08D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4846320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 · SME Finance Copilot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4846320"/>
            <a:ext cx="3703320" cy="292608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31920" y="484632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WeBank FinTechathon 2026 · International Track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as a Financial Participant"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businesses fly blind on money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is the CEO, the salesperson, and the accountant — so the finance job gets done last, if at all.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40280"/>
            <a:ext cx="566928" cy="566928"/>
          </a:xfrm>
          <a:prstGeom prst="ellipse">
            <a:avLst/>
          </a:prstGeom>
          <a:solidFill>
            <a:srgbClr val="F3EEE2"/>
          </a:solidFill>
          <a:ln w="25400">
            <a:solidFill>
              <a:srgbClr val="B08D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" y="2414016"/>
            <a:ext cx="219456" cy="219456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crunches arrive unannounced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looks fine until payroll week. By the time the gap is obvious, the options are bad and expensive.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240280"/>
            <a:ext cx="566928" cy="566928"/>
          </a:xfrm>
          <a:prstGeom prst="ellipse">
            <a:avLst/>
          </a:prstGeom>
          <a:solidFill>
            <a:srgbClr val="F3EEE2"/>
          </a:solidFill>
          <a:ln w="25400">
            <a:solidFill>
              <a:srgbClr val="B08D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55464" y="2414016"/>
            <a:ext cx="219456" cy="219456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is a guessing game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loan types, opaque terms. Owners pick what a relative suggested, not what fits — and overpay.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22208" y="2240280"/>
            <a:ext cx="566928" cy="566928"/>
          </a:xfrm>
          <a:prstGeom prst="ellipse">
            <a:avLst/>
          </a:prstGeom>
          <a:solidFill>
            <a:srgbClr val="F3EEE2"/>
          </a:solidFill>
          <a:ln w="25400">
            <a:solidFill>
              <a:srgbClr val="B08D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95944" y="2414016"/>
            <a:ext cx="219456" cy="219456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is reading the numbers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7033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slip and costs creep with no analyst watching. The trend is only clear once it has already hurt.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 MSMEs in India alone — most without a single finance hire.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copilot, three jobs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is an agent, not a chatbot: it decides which tools to run, executes them, and can take action — with a human in the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21284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Cash-flow management with alerts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67004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monthly cash flow, projects the next 30 days, and speaks up early — shortfall risk, thin buffer, expense spikes, overdue invoices.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93008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67588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369417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Financing-option matching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4151376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business to the right instrument with an explainable fit score, estimated cost, and the reasons behind every pick — and why some are off the 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74336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5721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517550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financial analysis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5632704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margin, leverage, trend and cost drivers into one explainable 0–100 health score you can actually act on.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product, working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snapshot of the business on the left; a copilot you just talk to on the right.</a:t>
            </a:r>
            <a:endParaRPr lang="en-US" sz="1300" dirty="0"/>
          </a:p>
        </p:txBody>
      </p:sp>
      <p:pic>
        <p:nvPicPr>
          <p:cNvPr id="4" name="Image 0" descr="/mnt/attach/outputs/ledgerpilot/docs/ui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64240" cy="4983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warns you before the gap, not after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6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Cash-flow engine · proactive alerting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6 months of transactions into monthly inflow / outflow and net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= cash ÷ monthly burn; flagged red under 3 months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Expense-spike detection: a category beyond 2σ of its own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projection with a conservative half-collection on near invoices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828800"/>
            <a:ext cx="5486400" cy="37490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example — ThreadCraft Apparel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paper, but cash-starved by 60–90 day client terms.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2971800"/>
            <a:ext cx="109728" cy="713232"/>
          </a:xfrm>
          <a:prstGeom prst="roundRect">
            <a:avLst>
              <a:gd name="adj" fmla="val 41667"/>
            </a:avLst>
          </a:prstGeom>
          <a:solidFill>
            <a:srgbClr val="B23A2E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971800"/>
            <a:ext cx="438912" cy="29260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97180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95351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hand ₹2.4L is under half of average monthly outflow (₹25.2L). Thin buffer against a bad month.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886200"/>
            <a:ext cx="109728" cy="713232"/>
          </a:xfrm>
          <a:prstGeom prst="roundRect">
            <a:avLst>
              <a:gd name="adj" fmla="val 41667"/>
            </a:avLst>
          </a:prstGeom>
          <a:solidFill>
            <a:srgbClr val="C08A2D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3886200"/>
            <a:ext cx="361188" cy="292608"/>
          </a:xfrm>
          <a:prstGeom prst="roundRect">
            <a:avLst>
              <a:gd name="adj" fmla="val 50000"/>
            </a:avLst>
          </a:prstGeom>
          <a:solidFill>
            <a:srgbClr val="C08A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3886200"/>
            <a:ext cx="361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86791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overdue invoices worth ₹9.8L — collecting these is the fastest cash win.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800600"/>
            <a:ext cx="109728" cy="713232"/>
          </a:xfrm>
          <a:prstGeom prst="roundRect">
            <a:avLst>
              <a:gd name="adj" fmla="val 41667"/>
            </a:avLst>
          </a:prstGeom>
          <a:solidFill>
            <a:srgbClr val="C08A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4800600"/>
            <a:ext cx="361188" cy="292608"/>
          </a:xfrm>
          <a:prstGeom prst="roundRect">
            <a:avLst>
              <a:gd name="adj" fmla="val 50000"/>
            </a:avLst>
          </a:prstGeom>
          <a:solidFill>
            <a:srgbClr val="C08A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4800600"/>
            <a:ext cx="361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4782312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Raw-materials spend last month ran well above its usual range.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financing, with the reasons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6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matcher · 6 product types · eligibility + fit scoring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"I need ₹15 lakh to bridge a cash gap."  LedgerPilot ranks what actually fits — and shows its 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54203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Financing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2761488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2761488"/>
            <a:ext cx="2633472" cy="274320"/>
          </a:xfrm>
          <a:prstGeom prst="roundRect">
            <a:avLst>
              <a:gd name="adj" fmla="val 50000"/>
            </a:avLst>
          </a:prstGeom>
          <a:solidFill>
            <a:srgbClr val="3E7A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60920" y="26791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90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254203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open receivables suit it; built for short-term cash-gap bridging.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37033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Govt MSME Scheme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3922776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3922776"/>
            <a:ext cx="2048256" cy="274320"/>
          </a:xfrm>
          <a:prstGeom prst="roundRect">
            <a:avLst>
              <a:gd name="adj" fmla="val 50000"/>
            </a:avLst>
          </a:prstGeom>
          <a:solidFill>
            <a:srgbClr val="C08A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60920" y="3840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70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7033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GST-registered MSME → eligible for low-cost, collateral-free credit.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00016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86460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 Loan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9120" y="5084064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9120" y="5084064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C08A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500176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65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86460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net cash flow supports fixed EMIs.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ends: "explainable suggestions, not a credit offer."  Transparency is the compliance feature.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 score that shows its math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6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analysis · explainable 0–100 score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92024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3154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89.5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E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PixelForge Studios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weighted components — each defensible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2542032"/>
            <a:ext cx="361188" cy="292608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2542032"/>
            <a:ext cx="361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net margin → 100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92240" y="3273552"/>
            <a:ext cx="361188" cy="292608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3273552"/>
            <a:ext cx="361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of cash → 100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92240" y="4005072"/>
            <a:ext cx="361188" cy="292608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92240" y="4005072"/>
            <a:ext cx="361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debt-free → 100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92240" y="4736592"/>
            <a:ext cx="361188" cy="292608"/>
          </a:xfrm>
          <a:prstGeom prst="roundRect">
            <a:avLst>
              <a:gd name="adj" fmla="val 50000"/>
            </a:avLst>
          </a:prstGeom>
          <a:solidFill>
            <a:srgbClr val="F3EEE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92240" y="4736592"/>
            <a:ext cx="361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0" y="4754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revenue → 50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5577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returns its components and weights — so an owner (or an auditor) sees exactly why.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under the hood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agent loop over typed tools, with every step logged.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3EE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66160" y="19202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3EEE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gate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3EE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8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235440" y="19202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3EE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01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analyze_cashflow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22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· read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32461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3401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financial_analysis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822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· read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2461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401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match_financing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822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recommend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324612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34015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schedule_action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822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act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6177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1C2E25"/>
          </a:solidFill>
          <a:ln w="12700">
            <a:solidFill>
              <a:srgbClr val="E2DB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datastore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 SMEs · 6 months of transactions · invoices · financing catalog. One seam to swap in live accounting/bank data.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46177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C2E25"/>
          </a:solidFill>
          <a:ln w="12700">
            <a:solidFill>
              <a:srgbClr val="E2DB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LLM backend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5120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API for the live demo; a deterministic offline engine runs the whole loop with no key — reproducible evidence.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the design, not a wrapper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6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 of the score — and the hardest thing to retrofit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3E7A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756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analysis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780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 effects. Always allowed.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54864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47288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C08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47288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37413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/ draft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77647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 effects. Allowed up to the ceiling.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71416"/>
            <a:ext cx="54864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745736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B23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745736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67258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State-changing action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0749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needs explicit confirmation — the agent never self-approves.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965960"/>
            <a:ext cx="566928" cy="566928"/>
          </a:xfrm>
          <a:prstGeom prst="ellipse">
            <a:avLst/>
          </a:prstGeom>
          <a:solidFill>
            <a:srgbClr val="F3EEE2"/>
          </a:solidFill>
          <a:ln w="25400">
            <a:solidFill>
              <a:srgbClr val="B08D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2139696"/>
            <a:ext cx="219456" cy="219456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866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Confirmation-always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240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money-adjacent action stops for a human yes. Proven live in three cases.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2971800"/>
            <a:ext cx="566928" cy="566928"/>
          </a:xfrm>
          <a:prstGeom prst="ellipse">
            <a:avLst/>
          </a:prstGeom>
          <a:solidFill>
            <a:srgbClr val="F3EEE2"/>
          </a:solidFill>
          <a:ln w="25400">
            <a:solidFill>
              <a:srgbClr val="B08D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28816" y="3145536"/>
            <a:ext cx="219456" cy="219456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2461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plan, tool call, result and denial is logged to JSONL.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55080" y="3977640"/>
            <a:ext cx="566928" cy="566928"/>
          </a:xfrm>
          <a:prstGeom prst="ellipse">
            <a:avLst/>
          </a:prstGeom>
          <a:solidFill>
            <a:srgbClr val="F3EEE2"/>
          </a:solidFill>
          <a:ln w="25400">
            <a:solidFill>
              <a:srgbClr val="B08D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28816" y="4151376"/>
            <a:ext cx="219456" cy="219456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8660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&amp; non-advice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42519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on every recommendation; a clear not-a-credit-offer disclaimer.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4983480"/>
            <a:ext cx="566928" cy="566928"/>
          </a:xfrm>
          <a:prstGeom prst="ellipse">
            <a:avLst/>
          </a:prstGeom>
          <a:solidFill>
            <a:srgbClr val="F3EEE2"/>
          </a:solidFill>
          <a:ln w="25400">
            <a:solidFill>
              <a:srgbClr val="B08D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28816" y="5157216"/>
            <a:ext cx="219456" cy="219456"/>
          </a:xfrm>
          <a:prstGeom prst="ellipse">
            <a:avLst/>
          </a:prstGeom>
          <a:solidFill>
            <a:srgbClr val="B08D3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08660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hallucinated numbers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come from deterministic tools, never the model.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straight to the rubric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81051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completion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3042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capabilities implemented with real financial logic and verified end-to-end.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90672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3192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346704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840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permissions, confirmation-always, full audit log, explainable non-advice.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855464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6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882896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interaction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53766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snapshot panel, proactive alerts, purpose-aware matching, pluggable offline/live engine.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A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runs today with no setup, 12 passing tests, and reproducible execution evidence in the repo.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real, and what's sandbox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6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upfront about the line — judges value that.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840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and working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agent loop — plan, gate, execute, narrate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capabilities with genuine financial logic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 system — all three cases proven live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log + actions ledger as evidence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automated tests, all passing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+ offline engine, runnable with no key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486400" cy="3840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DB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for the sandbox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146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data stands in for live accounting/bank feeds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catalog is representative; APRs are ranges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write to a ledger instead of firing real alerts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○"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account, customer, or money is ever touched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accounting &amp; bank connectors (Tally, Zoho, account aggregator) replacing the sandbox.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0" y="16459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9718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Lender-API integration for real, binding financing quotes instead of indicative ranges.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718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Input-policy layer in front of the planner; per-field data scoping for tighter privacy.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16459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C2E25"/>
          </a:solidFill>
          <a:ln w="12700">
            <a:solidFill>
              <a:srgbClr val="8A6D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6404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29718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for cross-border SMEs; background alerts that reach the owner between sessions.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F8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LedgerPilot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8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finance teammate every small business deserves.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LedgerPilot · SME Finance Copilot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FinTechathon 2026 · Topic 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FinTechathon 2026 International 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LedgerPilot Team</dc:creator>
  <cp:lastModifiedBy>LedgerPilot Team</cp:lastModifiedBy>
  <cp:revision>1</cp:revision>
  <dcterms:created xsi:type="dcterms:W3CDTF">2026-10-19T19:31:03Z</dcterms:created>
  <dcterms:modified xsi:type="dcterms:W3CDTF">2026-10-19T19:31:03Z</dcterms:modified>
</cp:coreProperties>
</file>